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29260800" cx="38404800"/>
  <p:notesSz cx="6858000" cy="9144000"/>
  <p:embeddedFontLst>
    <p:embeddedFont>
      <p:font typeface="Open Sans SemiBold"/>
      <p:regular r:id="rId7"/>
      <p:bold r:id="rId8"/>
      <p:italic r:id="rId9"/>
      <p:boldItalic r:id="rId10"/>
    </p:embeddedFont>
    <p:embeddedFont>
      <p:font typeface="Helvetica Neue Light"/>
      <p:regular r:id="rId11"/>
      <p:bold r:id="rId12"/>
      <p:italic r:id="rId13"/>
      <p:boldItalic r:id="rId14"/>
    </p:embeddedFont>
    <p:embeddedFont>
      <p:font typeface="Open Sa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533">
          <p15:clr>
            <a:srgbClr val="A4A3A4"/>
          </p15:clr>
        </p15:guide>
        <p15:guide id="2" pos="13608">
          <p15:clr>
            <a:srgbClr val="A4A3A4"/>
          </p15:clr>
        </p15:guide>
        <p15:guide id="3" orient="horz" pos="9216">
          <p15:clr>
            <a:srgbClr val="A4A3A4"/>
          </p15:clr>
        </p15:guide>
        <p15:guide id="4" pos="12096">
          <p15:clr>
            <a:srgbClr val="A4A3A4"/>
          </p15:clr>
        </p15:guide>
      </p15:sldGuideLst>
    </p:ext>
    <p:ext uri="GoogleSlidesCustomDataVersion2">
      <go:slidesCustomData xmlns:go="http://customooxmlschemas.google.com/" r:id="rId19" roundtripDataSignature="AMtx7miy72X4bK/AoOBNS+/pn+sgmlV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533" orient="horz"/>
        <p:guide pos="13608"/>
        <p:guide pos="9216" orient="horz"/>
        <p:guide pos="12096"/>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HelveticaNeueLight-regular.fntdata"/><Relationship Id="rId10" Type="http://schemas.openxmlformats.org/officeDocument/2006/relationships/font" Target="fonts/OpenSansSemiBold-boldItalic.fntdata"/><Relationship Id="rId13" Type="http://schemas.openxmlformats.org/officeDocument/2006/relationships/font" Target="fonts/HelveticaNeueLight-italic.fntdata"/><Relationship Id="rId12" Type="http://schemas.openxmlformats.org/officeDocument/2006/relationships/font" Target="fonts/HelveticaNeue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OpenSansSemiBold-italic.fntdata"/><Relationship Id="rId15" Type="http://schemas.openxmlformats.org/officeDocument/2006/relationships/font" Target="fonts/OpenSans-regular.fntdata"/><Relationship Id="rId14" Type="http://schemas.openxmlformats.org/officeDocument/2006/relationships/font" Target="fonts/HelveticaNeueLight-boldItalic.fntdata"/><Relationship Id="rId17" Type="http://schemas.openxmlformats.org/officeDocument/2006/relationships/font" Target="fonts/OpenSans-italic.fntdata"/><Relationship Id="rId16" Type="http://schemas.openxmlformats.org/officeDocument/2006/relationships/font" Target="fonts/OpenSans-bold.fntdata"/><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OpenSans-boldItalic.fntdata"/><Relationship Id="rId7" Type="http://schemas.openxmlformats.org/officeDocument/2006/relationships/font" Target="fonts/OpenSansSemiBold-regular.fntdata"/><Relationship Id="rId8" Type="http://schemas.openxmlformats.org/officeDocument/2006/relationships/font" Target="fonts/OpenSans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9pPr>
          </a:lstStyle>
          <a:p/>
        </p:txBody>
      </p:sp>
      <p:sp>
        <p:nvSpPr>
          <p:cNvPr id="5" name="Google Shape;5;n"/>
          <p:cNvSpPr/>
          <p:nvPr>
            <p:ph idx="3" type="sldImg"/>
          </p:nvPr>
        </p:nvSpPr>
        <p:spPr>
          <a:xfrm>
            <a:off x="1181009" y="685800"/>
            <a:ext cx="4496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a:ea typeface="Times"/>
                <a:cs typeface="Times"/>
                <a:sym typeface="Times"/>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a:ea typeface="Times"/>
                <a:cs typeface="Times"/>
                <a:sym typeface="Times"/>
              </a:rPr>
              <a:t>‹#›</a:t>
            </a:fld>
            <a:endParaRPr b="0" i="0" sz="1200" u="none" cap="none" strike="noStrike">
              <a:solidFill>
                <a:schemeClr val="dk1"/>
              </a:solidFill>
              <a:latin typeface="Times"/>
              <a:ea typeface="Times"/>
              <a:cs typeface="Times"/>
              <a:sym typeface="Time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2:notes"/>
          <p:cNvSpPr/>
          <p:nvPr>
            <p:ph idx="2" type="sldImg"/>
          </p:nvPr>
        </p:nvSpPr>
        <p:spPr>
          <a:xfrm>
            <a:off x="1181009" y="685800"/>
            <a:ext cx="4496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 name="Google Shape;14;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 name="Google Shape;15;p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png"/><Relationship Id="rId13" Type="http://schemas.openxmlformats.org/officeDocument/2006/relationships/image" Target="../media/image4.png"/><Relationship Id="rId12"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pp.eraser.io/" TargetMode="External"/><Relationship Id="rId4" Type="http://schemas.openxmlformats.org/officeDocument/2006/relationships/image" Target="../media/image8.png"/><Relationship Id="rId9" Type="http://schemas.openxmlformats.org/officeDocument/2006/relationships/image" Target="../media/image2.png"/><Relationship Id="rId15" Type="http://schemas.openxmlformats.org/officeDocument/2006/relationships/image" Target="../media/image6.png"/><Relationship Id="rId1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1.jpg"/><Relationship Id="rId7" Type="http://schemas.openxmlformats.org/officeDocument/2006/relationships/image" Target="../media/image3.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grpSp>
        <p:nvGrpSpPr>
          <p:cNvPr id="17" name="Google Shape;17;p2"/>
          <p:cNvGrpSpPr/>
          <p:nvPr/>
        </p:nvGrpSpPr>
        <p:grpSpPr>
          <a:xfrm>
            <a:off x="19202399" y="23623825"/>
            <a:ext cx="17254763" cy="1628275"/>
            <a:chOff x="897250" y="6709300"/>
            <a:chExt cx="12627900" cy="1628275"/>
          </a:xfrm>
        </p:grpSpPr>
        <p:sp>
          <p:nvSpPr>
            <p:cNvPr id="18" name="Google Shape;18;p2"/>
            <p:cNvSpPr/>
            <p:nvPr/>
          </p:nvSpPr>
          <p:spPr>
            <a:xfrm>
              <a:off x="914400" y="6709300"/>
              <a:ext cx="12275400" cy="1554600"/>
            </a:xfrm>
            <a:prstGeom prst="round1Rect">
              <a:avLst>
                <a:gd fmla="val 50000" name="adj"/>
              </a:avLst>
            </a:prstGeom>
            <a:solidFill>
              <a:srgbClr val="7A001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2"/>
            <p:cNvGrpSpPr/>
            <p:nvPr/>
          </p:nvGrpSpPr>
          <p:grpSpPr>
            <a:xfrm>
              <a:off x="897250" y="7640375"/>
              <a:ext cx="12627900" cy="697200"/>
              <a:chOff x="897250" y="7640375"/>
              <a:chExt cx="12627900" cy="697200"/>
            </a:xfrm>
          </p:grpSpPr>
          <p:cxnSp>
            <p:nvCxnSpPr>
              <p:cNvPr id="20" name="Google Shape;20;p2"/>
              <p:cNvCxnSpPr>
                <a:endCxn id="21" idx="2"/>
              </p:cNvCxnSpPr>
              <p:nvPr/>
            </p:nvCxnSpPr>
            <p:spPr>
              <a:xfrm flipH="1" rot="10800000">
                <a:off x="897250" y="7988975"/>
                <a:ext cx="11930700" cy="15600"/>
              </a:xfrm>
              <a:prstGeom prst="straightConnector1">
                <a:avLst/>
              </a:prstGeom>
              <a:noFill/>
              <a:ln cap="flat" cmpd="sng" w="152400">
                <a:solidFill>
                  <a:srgbClr val="FFCC33"/>
                </a:solidFill>
                <a:prstDash val="solid"/>
                <a:round/>
                <a:headEnd len="sm" w="sm" type="none"/>
                <a:tailEnd len="sm" w="sm" type="none"/>
              </a:ln>
            </p:spPr>
          </p:cxnSp>
          <p:sp>
            <p:nvSpPr>
              <p:cNvPr id="21" name="Google Shape;21;p2"/>
              <p:cNvSpPr/>
              <p:nvPr/>
            </p:nvSpPr>
            <p:spPr>
              <a:xfrm>
                <a:off x="12827950" y="7640375"/>
                <a:ext cx="697200" cy="697200"/>
              </a:xfrm>
              <a:prstGeom prst="ellipse">
                <a:avLst/>
              </a:prstGeom>
              <a:noFill/>
              <a:ln cap="flat" cmpd="sng" w="152400">
                <a:solidFill>
                  <a:srgbClr val="FFCC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2" name="Google Shape;22;p2"/>
          <p:cNvSpPr/>
          <p:nvPr/>
        </p:nvSpPr>
        <p:spPr>
          <a:xfrm>
            <a:off x="963263" y="18878975"/>
            <a:ext cx="17255100" cy="1554600"/>
          </a:xfrm>
          <a:prstGeom prst="rect">
            <a:avLst/>
          </a:prstGeom>
          <a:solidFill>
            <a:srgbClr val="7A001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 name="Google Shape;23;p2"/>
          <p:cNvGrpSpPr/>
          <p:nvPr/>
        </p:nvGrpSpPr>
        <p:grpSpPr>
          <a:xfrm>
            <a:off x="1049650" y="5794900"/>
            <a:ext cx="17083023" cy="1628275"/>
            <a:chOff x="897250" y="6709300"/>
            <a:chExt cx="12627900" cy="1628275"/>
          </a:xfrm>
        </p:grpSpPr>
        <p:sp>
          <p:nvSpPr>
            <p:cNvPr id="24" name="Google Shape;24;p2"/>
            <p:cNvSpPr/>
            <p:nvPr/>
          </p:nvSpPr>
          <p:spPr>
            <a:xfrm>
              <a:off x="914400" y="6709300"/>
              <a:ext cx="12275400" cy="1554600"/>
            </a:xfrm>
            <a:prstGeom prst="round1Rect">
              <a:avLst>
                <a:gd fmla="val 50000" name="adj"/>
              </a:avLst>
            </a:prstGeom>
            <a:solidFill>
              <a:srgbClr val="7A001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 name="Google Shape;25;p2"/>
            <p:cNvGrpSpPr/>
            <p:nvPr/>
          </p:nvGrpSpPr>
          <p:grpSpPr>
            <a:xfrm>
              <a:off x="897250" y="7640375"/>
              <a:ext cx="12627900" cy="697200"/>
              <a:chOff x="897250" y="7640375"/>
              <a:chExt cx="12627900" cy="697200"/>
            </a:xfrm>
          </p:grpSpPr>
          <p:cxnSp>
            <p:nvCxnSpPr>
              <p:cNvPr id="26" name="Google Shape;26;p2"/>
              <p:cNvCxnSpPr>
                <a:endCxn id="27" idx="2"/>
              </p:cNvCxnSpPr>
              <p:nvPr/>
            </p:nvCxnSpPr>
            <p:spPr>
              <a:xfrm flipH="1" rot="10800000">
                <a:off x="897250" y="7988975"/>
                <a:ext cx="11930700" cy="15600"/>
              </a:xfrm>
              <a:prstGeom prst="straightConnector1">
                <a:avLst/>
              </a:prstGeom>
              <a:noFill/>
              <a:ln cap="flat" cmpd="sng" w="152400">
                <a:solidFill>
                  <a:srgbClr val="FFCC33"/>
                </a:solidFill>
                <a:prstDash val="solid"/>
                <a:round/>
                <a:headEnd len="sm" w="sm" type="none"/>
                <a:tailEnd len="sm" w="sm" type="none"/>
              </a:ln>
            </p:spPr>
          </p:cxnSp>
          <p:sp>
            <p:nvSpPr>
              <p:cNvPr id="27" name="Google Shape;27;p2"/>
              <p:cNvSpPr/>
              <p:nvPr/>
            </p:nvSpPr>
            <p:spPr>
              <a:xfrm>
                <a:off x="12827950" y="7640375"/>
                <a:ext cx="697200" cy="697200"/>
              </a:xfrm>
              <a:prstGeom prst="ellipse">
                <a:avLst/>
              </a:prstGeom>
              <a:noFill/>
              <a:ln cap="flat" cmpd="sng" w="152400">
                <a:solidFill>
                  <a:srgbClr val="FFCC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8" name="Google Shape;28;p2"/>
          <p:cNvSpPr/>
          <p:nvPr/>
        </p:nvSpPr>
        <p:spPr>
          <a:xfrm>
            <a:off x="19202400" y="2914350"/>
            <a:ext cx="16534200" cy="1554600"/>
          </a:xfrm>
          <a:prstGeom prst="round1Rect">
            <a:avLst>
              <a:gd fmla="val 50000" name="adj"/>
            </a:avLst>
          </a:prstGeom>
          <a:solidFill>
            <a:srgbClr val="7A001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 name="Google Shape;29;p2"/>
          <p:cNvGrpSpPr/>
          <p:nvPr/>
        </p:nvGrpSpPr>
        <p:grpSpPr>
          <a:xfrm>
            <a:off x="19201779" y="3771439"/>
            <a:ext cx="17083023" cy="943172"/>
            <a:chOff x="15551825" y="7787025"/>
            <a:chExt cx="12627900" cy="697200"/>
          </a:xfrm>
        </p:grpSpPr>
        <p:cxnSp>
          <p:nvCxnSpPr>
            <p:cNvPr id="30" name="Google Shape;30;p2"/>
            <p:cNvCxnSpPr>
              <a:endCxn id="31" idx="2"/>
            </p:cNvCxnSpPr>
            <p:nvPr/>
          </p:nvCxnSpPr>
          <p:spPr>
            <a:xfrm flipH="1" rot="10800000">
              <a:off x="15551825" y="8135625"/>
              <a:ext cx="11930700" cy="15600"/>
            </a:xfrm>
            <a:prstGeom prst="straightConnector1">
              <a:avLst/>
            </a:prstGeom>
            <a:noFill/>
            <a:ln cap="flat" cmpd="sng" w="206175">
              <a:solidFill>
                <a:srgbClr val="FFCC33"/>
              </a:solidFill>
              <a:prstDash val="solid"/>
              <a:round/>
              <a:headEnd len="sm" w="sm" type="none"/>
              <a:tailEnd len="sm" w="sm" type="none"/>
            </a:ln>
          </p:spPr>
        </p:cxnSp>
        <p:sp>
          <p:nvSpPr>
            <p:cNvPr id="31" name="Google Shape;31;p2"/>
            <p:cNvSpPr/>
            <p:nvPr/>
          </p:nvSpPr>
          <p:spPr>
            <a:xfrm>
              <a:off x="27482525" y="7787025"/>
              <a:ext cx="697200" cy="697200"/>
            </a:xfrm>
            <a:prstGeom prst="ellipse">
              <a:avLst/>
            </a:prstGeom>
            <a:noFill/>
            <a:ln cap="flat" cmpd="sng" w="206175">
              <a:solidFill>
                <a:srgbClr val="FFCC33"/>
              </a:solidFill>
              <a:prstDash val="solid"/>
              <a:round/>
              <a:headEnd len="sm" w="sm" type="none"/>
              <a:tailEnd len="sm" w="sm" type="none"/>
            </a:ln>
          </p:spPr>
          <p:txBody>
            <a:bodyPr anchorCtr="0" anchor="ctr" bIns="123675" lIns="123675" spcFirstLastPara="1" rIns="123675" wrap="square" tIns="123675">
              <a:noAutofit/>
            </a:bodyPr>
            <a:lstStyle/>
            <a:p>
              <a:pPr indent="0" lvl="0" marL="0" marR="0" rtl="0" algn="l">
                <a:lnSpc>
                  <a:spcPct val="100000"/>
                </a:lnSpc>
                <a:spcBef>
                  <a:spcPts val="0"/>
                </a:spcBef>
                <a:spcAft>
                  <a:spcPts val="0"/>
                </a:spcAft>
                <a:buClr>
                  <a:srgbClr val="000000"/>
                </a:buClr>
                <a:buSzPts val="1894"/>
                <a:buFont typeface="Arial"/>
                <a:buNone/>
              </a:pPr>
              <a:r>
                <a:t/>
              </a:r>
              <a:endParaRPr b="0" i="0" sz="1893" u="none" cap="none" strike="noStrike">
                <a:solidFill>
                  <a:srgbClr val="000000"/>
                </a:solidFill>
                <a:latin typeface="Arial"/>
                <a:ea typeface="Arial"/>
                <a:cs typeface="Arial"/>
                <a:sym typeface="Arial"/>
              </a:endParaRPr>
            </a:p>
          </p:txBody>
        </p:sp>
      </p:grpSp>
      <p:sp>
        <p:nvSpPr>
          <p:cNvPr id="32" name="Google Shape;32;p2"/>
          <p:cNvSpPr txBox="1"/>
          <p:nvPr/>
        </p:nvSpPr>
        <p:spPr>
          <a:xfrm>
            <a:off x="1261700" y="7699925"/>
            <a:ext cx="11793000" cy="10902300"/>
          </a:xfrm>
          <a:prstGeom prst="rect">
            <a:avLst/>
          </a:prstGeom>
          <a:noFill/>
          <a:ln>
            <a:noFill/>
          </a:ln>
        </p:spPr>
        <p:txBody>
          <a:bodyPr anchorCtr="0" anchor="t" bIns="40275" lIns="80525" spcFirstLastPara="1" rIns="80525" wrap="square" tIns="40275">
            <a:spAutoFit/>
          </a:bodyPr>
          <a:lstStyle/>
          <a:p>
            <a:pPr indent="0" lvl="0" marL="0" marR="0" rtl="0" algn="l">
              <a:lnSpc>
                <a:spcPct val="100000"/>
              </a:lnSpc>
              <a:spcBef>
                <a:spcPts val="0"/>
              </a:spcBef>
              <a:spcAft>
                <a:spcPts val="0"/>
              </a:spcAft>
              <a:buClr>
                <a:srgbClr val="000000"/>
              </a:buClr>
              <a:buSzPts val="4000"/>
              <a:buFont typeface="Arial"/>
              <a:buNone/>
            </a:pPr>
            <a:r>
              <a:rPr lang="en-US" sz="3700">
                <a:solidFill>
                  <a:schemeClr val="dk1"/>
                </a:solidFill>
                <a:latin typeface="Open Sans"/>
                <a:ea typeface="Open Sans"/>
                <a:cs typeface="Open Sans"/>
                <a:sym typeface="Open Sans"/>
              </a:rPr>
              <a:t>This project investigates written Arabic dialect classification across five regional varieties using three different modeling approaches. The first model is a logistic regression baseline built on TF-IDF features, providing a simple reference point for performance. The second model is a custom convolution-based neural network implemented in PyTorch that learns token embeddings and extracts local sequence patterns through one-dimensional convolutions, pooling, and fully connected layers. The third model is a zero-shot classifier based on a pretrained XLM-Roberta model that has been adapted for Arabic through multilingual Twitter data and Arabic XNLI, allowing it to assign dialect labels without any additional training. Together these models show how performance changes from classical feature-based methods to learned representations to large pretrained language models applied in a zero-shot setting.</a:t>
            </a:r>
            <a:endParaRPr b="0" i="0" sz="3900" u="none" cap="none" strike="noStrike">
              <a:solidFill>
                <a:srgbClr val="000000"/>
              </a:solidFill>
              <a:latin typeface="Open Sans"/>
              <a:ea typeface="Open Sans"/>
              <a:cs typeface="Open Sans"/>
              <a:sym typeface="Open Sans"/>
            </a:endParaRPr>
          </a:p>
        </p:txBody>
      </p:sp>
      <p:sp>
        <p:nvSpPr>
          <p:cNvPr id="33" name="Google Shape;33;p2"/>
          <p:cNvSpPr txBox="1"/>
          <p:nvPr/>
        </p:nvSpPr>
        <p:spPr>
          <a:xfrm>
            <a:off x="1576815" y="6096000"/>
            <a:ext cx="15496500" cy="774000"/>
          </a:xfrm>
          <a:prstGeom prst="rect">
            <a:avLst/>
          </a:prstGeom>
          <a:noFill/>
          <a:ln>
            <a:noFill/>
          </a:ln>
        </p:spPr>
        <p:txBody>
          <a:bodyPr anchorCtr="0" anchor="t" bIns="40275" lIns="80525" spcFirstLastPara="1" rIns="80525" wrap="square" tIns="40275">
            <a:spAutoFit/>
          </a:bodyPr>
          <a:lstStyle/>
          <a:p>
            <a:pPr indent="0" lvl="0" marL="0" marR="0" rtl="0" algn="l">
              <a:lnSpc>
                <a:spcPct val="100000"/>
              </a:lnSpc>
              <a:spcBef>
                <a:spcPts val="0"/>
              </a:spcBef>
              <a:spcAft>
                <a:spcPts val="0"/>
              </a:spcAft>
              <a:buClr>
                <a:srgbClr val="000000"/>
              </a:buClr>
              <a:buSzPts val="4500"/>
              <a:buFont typeface="Arial"/>
              <a:buNone/>
            </a:pPr>
            <a:r>
              <a:rPr lang="en-US" sz="4500">
                <a:solidFill>
                  <a:schemeClr val="lt1"/>
                </a:solidFill>
                <a:latin typeface="Open Sans SemiBold"/>
                <a:ea typeface="Open Sans SemiBold"/>
                <a:cs typeface="Open Sans SemiBold"/>
                <a:sym typeface="Open Sans SemiBold"/>
              </a:rPr>
              <a:t>Abstract</a:t>
            </a:r>
            <a:endParaRPr b="0" i="0" sz="1500" u="none" cap="none" strike="noStrike">
              <a:solidFill>
                <a:schemeClr val="lt1"/>
              </a:solidFill>
              <a:latin typeface="Open Sans SemiBold"/>
              <a:ea typeface="Open Sans SemiBold"/>
              <a:cs typeface="Open Sans SemiBold"/>
              <a:sym typeface="Open Sans SemiBold"/>
            </a:endParaRPr>
          </a:p>
        </p:txBody>
      </p:sp>
      <p:sp>
        <p:nvSpPr>
          <p:cNvPr id="34" name="Google Shape;34;p2"/>
          <p:cNvSpPr txBox="1"/>
          <p:nvPr/>
        </p:nvSpPr>
        <p:spPr>
          <a:xfrm>
            <a:off x="1599217" y="19293850"/>
            <a:ext cx="11455200" cy="774000"/>
          </a:xfrm>
          <a:prstGeom prst="rect">
            <a:avLst/>
          </a:prstGeom>
          <a:noFill/>
          <a:ln>
            <a:noFill/>
          </a:ln>
        </p:spPr>
        <p:txBody>
          <a:bodyPr anchorCtr="0" anchor="t" bIns="40275" lIns="80525" spcFirstLastPara="1" rIns="80525" wrap="square" tIns="40275">
            <a:spAutoFit/>
          </a:bodyPr>
          <a:lstStyle/>
          <a:p>
            <a:pPr indent="0" lvl="0" marL="0" marR="0" rtl="0" algn="l">
              <a:lnSpc>
                <a:spcPct val="100000"/>
              </a:lnSpc>
              <a:spcBef>
                <a:spcPts val="0"/>
              </a:spcBef>
              <a:spcAft>
                <a:spcPts val="0"/>
              </a:spcAft>
              <a:buClr>
                <a:srgbClr val="000000"/>
              </a:buClr>
              <a:buSzPts val="4500"/>
              <a:buFont typeface="Arial"/>
              <a:buNone/>
            </a:pPr>
            <a:r>
              <a:rPr lang="en-US" sz="4500">
                <a:solidFill>
                  <a:srgbClr val="FFCC33"/>
                </a:solidFill>
                <a:latin typeface="Open Sans SemiBold"/>
                <a:ea typeface="Open Sans SemiBold"/>
                <a:cs typeface="Open Sans SemiBold"/>
                <a:sym typeface="Open Sans SemiBold"/>
              </a:rPr>
              <a:t>Results</a:t>
            </a:r>
            <a:endParaRPr b="0" i="0" sz="1500" u="none" cap="none" strike="noStrike">
              <a:solidFill>
                <a:srgbClr val="FFCC33"/>
              </a:solidFill>
              <a:latin typeface="Open Sans SemiBold"/>
              <a:ea typeface="Open Sans SemiBold"/>
              <a:cs typeface="Open Sans SemiBold"/>
              <a:sym typeface="Open Sans SemiBold"/>
            </a:endParaRPr>
          </a:p>
        </p:txBody>
      </p:sp>
      <p:sp>
        <p:nvSpPr>
          <p:cNvPr id="35" name="Google Shape;35;p2"/>
          <p:cNvSpPr txBox="1"/>
          <p:nvPr/>
        </p:nvSpPr>
        <p:spPr>
          <a:xfrm>
            <a:off x="19788750" y="3188171"/>
            <a:ext cx="11455200" cy="774000"/>
          </a:xfrm>
          <a:prstGeom prst="rect">
            <a:avLst/>
          </a:prstGeom>
          <a:noFill/>
          <a:ln>
            <a:noFill/>
          </a:ln>
        </p:spPr>
        <p:txBody>
          <a:bodyPr anchorCtr="0" anchor="t" bIns="40275" lIns="80525" spcFirstLastPara="1" rIns="80525" wrap="square" tIns="40275">
            <a:spAutoFit/>
          </a:bodyPr>
          <a:lstStyle/>
          <a:p>
            <a:pPr indent="0" lvl="0" marL="0" marR="0" rtl="0" algn="l">
              <a:lnSpc>
                <a:spcPct val="100000"/>
              </a:lnSpc>
              <a:spcBef>
                <a:spcPts val="0"/>
              </a:spcBef>
              <a:spcAft>
                <a:spcPts val="0"/>
              </a:spcAft>
              <a:buClr>
                <a:srgbClr val="000000"/>
              </a:buClr>
              <a:buSzPts val="4500"/>
              <a:buFont typeface="Arial"/>
              <a:buNone/>
            </a:pPr>
            <a:r>
              <a:rPr lang="en-US" sz="4500">
                <a:solidFill>
                  <a:schemeClr val="lt1"/>
                </a:solidFill>
                <a:latin typeface="Open Sans SemiBold"/>
                <a:ea typeface="Open Sans SemiBold"/>
                <a:cs typeface="Open Sans SemiBold"/>
                <a:sym typeface="Open Sans SemiBold"/>
              </a:rPr>
              <a:t>Methods</a:t>
            </a:r>
            <a:endParaRPr b="0" i="0" sz="1500" u="none" cap="none" strike="noStrike">
              <a:solidFill>
                <a:schemeClr val="lt1"/>
              </a:solidFill>
              <a:latin typeface="Open Sans SemiBold"/>
              <a:ea typeface="Open Sans SemiBold"/>
              <a:cs typeface="Open Sans SemiBold"/>
              <a:sym typeface="Open Sans SemiBold"/>
            </a:endParaRPr>
          </a:p>
        </p:txBody>
      </p:sp>
      <p:sp>
        <p:nvSpPr>
          <p:cNvPr id="36" name="Google Shape;36;p2"/>
          <p:cNvSpPr txBox="1"/>
          <p:nvPr/>
        </p:nvSpPr>
        <p:spPr>
          <a:xfrm>
            <a:off x="19202400" y="5025425"/>
            <a:ext cx="9067800" cy="1882200"/>
          </a:xfrm>
          <a:prstGeom prst="rect">
            <a:avLst/>
          </a:prstGeom>
          <a:noFill/>
          <a:ln>
            <a:noFill/>
          </a:ln>
        </p:spPr>
        <p:txBody>
          <a:bodyPr anchorCtr="0" anchor="t" bIns="40275" lIns="80525" spcFirstLastPara="1" rIns="80525" wrap="square" tIns="40275">
            <a:spAutoFit/>
          </a:bodyPr>
          <a:lstStyle/>
          <a:p>
            <a:pPr indent="0" lvl="0" marL="0" rtl="0" algn="l">
              <a:lnSpc>
                <a:spcPct val="115000"/>
              </a:lnSpc>
              <a:spcBef>
                <a:spcPts val="1200"/>
              </a:spcBef>
              <a:spcAft>
                <a:spcPts val="0"/>
              </a:spcAft>
              <a:buClr>
                <a:schemeClr val="dk1"/>
              </a:buClr>
              <a:buSzPts val="1100"/>
              <a:buFont typeface="Arial"/>
              <a:buNone/>
            </a:pPr>
            <a:r>
              <a:rPr b="1" i="1" lang="en-US" sz="3000">
                <a:solidFill>
                  <a:schemeClr val="dk1"/>
                </a:solidFill>
              </a:rPr>
              <a:t>Logistic regression baseline</a:t>
            </a:r>
            <a:endParaRPr b="1" i="1" sz="30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3000">
              <a:solidFill>
                <a:schemeClr val="dk1"/>
              </a:solidFill>
            </a:endParaRPr>
          </a:p>
          <a:p>
            <a:pPr indent="0" lvl="0" marL="0" marR="0" rtl="0" algn="l">
              <a:lnSpc>
                <a:spcPct val="100000"/>
              </a:lnSpc>
              <a:spcBef>
                <a:spcPts val="1200"/>
              </a:spcBef>
              <a:spcAft>
                <a:spcPts val="0"/>
              </a:spcAft>
              <a:buClr>
                <a:srgbClr val="000000"/>
              </a:buClr>
              <a:buSzPts val="4000"/>
              <a:buFont typeface="Arial"/>
              <a:buNone/>
            </a:pPr>
            <a:r>
              <a:t/>
            </a:r>
            <a:endParaRPr b="1" sz="2800">
              <a:solidFill>
                <a:schemeClr val="dk1"/>
              </a:solidFill>
            </a:endParaRPr>
          </a:p>
        </p:txBody>
      </p:sp>
      <p:grpSp>
        <p:nvGrpSpPr>
          <p:cNvPr id="37" name="Google Shape;37;p2"/>
          <p:cNvGrpSpPr/>
          <p:nvPr/>
        </p:nvGrpSpPr>
        <p:grpSpPr>
          <a:xfrm>
            <a:off x="19202314" y="18883075"/>
            <a:ext cx="17254763" cy="1628275"/>
            <a:chOff x="897250" y="6709300"/>
            <a:chExt cx="12627900" cy="1628275"/>
          </a:xfrm>
        </p:grpSpPr>
        <p:sp>
          <p:nvSpPr>
            <p:cNvPr id="38" name="Google Shape;38;p2"/>
            <p:cNvSpPr/>
            <p:nvPr/>
          </p:nvSpPr>
          <p:spPr>
            <a:xfrm>
              <a:off x="914400" y="6709300"/>
              <a:ext cx="12275400" cy="1554600"/>
            </a:xfrm>
            <a:prstGeom prst="round1Rect">
              <a:avLst>
                <a:gd fmla="val 50000" name="adj"/>
              </a:avLst>
            </a:prstGeom>
            <a:solidFill>
              <a:srgbClr val="7A001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 name="Google Shape;39;p2"/>
            <p:cNvGrpSpPr/>
            <p:nvPr/>
          </p:nvGrpSpPr>
          <p:grpSpPr>
            <a:xfrm>
              <a:off x="897250" y="7640375"/>
              <a:ext cx="12627900" cy="697200"/>
              <a:chOff x="897250" y="7640375"/>
              <a:chExt cx="12627900" cy="697200"/>
            </a:xfrm>
          </p:grpSpPr>
          <p:cxnSp>
            <p:nvCxnSpPr>
              <p:cNvPr id="40" name="Google Shape;40;p2"/>
              <p:cNvCxnSpPr>
                <a:endCxn id="41" idx="2"/>
              </p:cNvCxnSpPr>
              <p:nvPr/>
            </p:nvCxnSpPr>
            <p:spPr>
              <a:xfrm flipH="1" rot="10800000">
                <a:off x="897250" y="7988975"/>
                <a:ext cx="11930700" cy="15600"/>
              </a:xfrm>
              <a:prstGeom prst="straightConnector1">
                <a:avLst/>
              </a:prstGeom>
              <a:noFill/>
              <a:ln cap="flat" cmpd="sng" w="152400">
                <a:solidFill>
                  <a:srgbClr val="FFCC33"/>
                </a:solidFill>
                <a:prstDash val="solid"/>
                <a:round/>
                <a:headEnd len="sm" w="sm" type="none"/>
                <a:tailEnd len="sm" w="sm" type="none"/>
              </a:ln>
            </p:spPr>
          </p:cxnSp>
          <p:sp>
            <p:nvSpPr>
              <p:cNvPr id="41" name="Google Shape;41;p2"/>
              <p:cNvSpPr/>
              <p:nvPr/>
            </p:nvSpPr>
            <p:spPr>
              <a:xfrm>
                <a:off x="12827950" y="7640375"/>
                <a:ext cx="697200" cy="697200"/>
              </a:xfrm>
              <a:prstGeom prst="ellipse">
                <a:avLst/>
              </a:prstGeom>
              <a:noFill/>
              <a:ln cap="flat" cmpd="sng" w="152400">
                <a:solidFill>
                  <a:srgbClr val="FFCC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2" name="Google Shape;42;p2"/>
          <p:cNvSpPr txBox="1"/>
          <p:nvPr/>
        </p:nvSpPr>
        <p:spPr>
          <a:xfrm>
            <a:off x="28270175" y="4924850"/>
            <a:ext cx="9969000" cy="6613800"/>
          </a:xfrm>
          <a:prstGeom prst="rect">
            <a:avLst/>
          </a:prstGeom>
          <a:noFill/>
          <a:ln>
            <a:noFill/>
          </a:ln>
        </p:spPr>
        <p:txBody>
          <a:bodyPr anchorCtr="0" anchor="t" bIns="40275" lIns="80525" spcFirstLastPara="1" rIns="80525" wrap="square" tIns="40275">
            <a:spAutoFit/>
          </a:bodyPr>
          <a:lstStyle/>
          <a:p>
            <a:pPr indent="0" lvl="0" marL="457200" rtl="0" algn="l">
              <a:lnSpc>
                <a:spcPct val="115000"/>
              </a:lnSpc>
              <a:spcBef>
                <a:spcPts val="1200"/>
              </a:spcBef>
              <a:spcAft>
                <a:spcPts val="0"/>
              </a:spcAft>
              <a:buNone/>
            </a:pPr>
            <a:r>
              <a:rPr b="1" i="1" lang="en-US" sz="2800">
                <a:solidFill>
                  <a:schemeClr val="dk1"/>
                </a:solidFill>
              </a:rPr>
              <a:t>Multi-class Convolutional Neural Network</a:t>
            </a:r>
            <a:endParaRPr b="1" i="1" sz="2800">
              <a:solidFill>
                <a:schemeClr val="dk1"/>
              </a:solidFill>
            </a:endParaRPr>
          </a:p>
          <a:p>
            <a:pPr indent="-406400" lvl="0" marL="457200" rtl="0" algn="l">
              <a:lnSpc>
                <a:spcPct val="115000"/>
              </a:lnSpc>
              <a:spcBef>
                <a:spcPts val="1200"/>
              </a:spcBef>
              <a:spcAft>
                <a:spcPts val="0"/>
              </a:spcAft>
              <a:buClr>
                <a:schemeClr val="dk1"/>
              </a:buClr>
              <a:buSzPts val="2800"/>
              <a:buChar char="●"/>
            </a:pPr>
            <a:r>
              <a:rPr lang="en-US" sz="2800">
                <a:solidFill>
                  <a:schemeClr val="dk1"/>
                </a:solidFill>
              </a:rPr>
              <a:t>Tokenized the text, padded each sequence to a fixed length, and converted tokens into learned embeddings</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US" sz="2800">
                <a:solidFill>
                  <a:schemeClr val="dk1"/>
                </a:solidFill>
              </a:rPr>
              <a:t>Applied one-dimensional convolution layers with sixty-four and one hundred twenty-eight filters to extract local patterns</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US" sz="2800">
                <a:solidFill>
                  <a:schemeClr val="dk1"/>
                </a:solidFill>
              </a:rPr>
              <a:t>Used ReLU activations and a max pooling layer to compress the sequence</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US" sz="2800">
                <a:solidFill>
                  <a:schemeClr val="dk1"/>
                </a:solidFill>
              </a:rPr>
              <a:t>Flattened the resulting features, added dropout, and passed them through a dense layer with two hundred fifty-six units</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US" sz="2800">
                <a:solidFill>
                  <a:schemeClr val="dk1"/>
                </a:solidFill>
              </a:rPr>
              <a:t>Trained the model with the Adam optimizer and cross entropy loss using mini batches and early stopping</a:t>
            </a:r>
            <a:endParaRPr b="1" sz="2800">
              <a:solidFill>
                <a:schemeClr val="dk1"/>
              </a:solidFill>
            </a:endParaRPr>
          </a:p>
        </p:txBody>
      </p:sp>
      <p:sp>
        <p:nvSpPr>
          <p:cNvPr id="43" name="Google Shape;43;p2"/>
          <p:cNvSpPr txBox="1"/>
          <p:nvPr/>
        </p:nvSpPr>
        <p:spPr>
          <a:xfrm>
            <a:off x="19788750" y="19169597"/>
            <a:ext cx="11455200" cy="774000"/>
          </a:xfrm>
          <a:prstGeom prst="rect">
            <a:avLst/>
          </a:prstGeom>
          <a:noFill/>
          <a:ln>
            <a:noFill/>
          </a:ln>
        </p:spPr>
        <p:txBody>
          <a:bodyPr anchorCtr="0" anchor="t" bIns="40275" lIns="80525" spcFirstLastPara="1" rIns="80525" wrap="square" tIns="40275">
            <a:spAutoFit/>
          </a:bodyPr>
          <a:lstStyle/>
          <a:p>
            <a:pPr indent="0" lvl="0" marL="0" marR="0" rtl="0" algn="l">
              <a:lnSpc>
                <a:spcPct val="100000"/>
              </a:lnSpc>
              <a:spcBef>
                <a:spcPts val="0"/>
              </a:spcBef>
              <a:spcAft>
                <a:spcPts val="0"/>
              </a:spcAft>
              <a:buClr>
                <a:srgbClr val="000000"/>
              </a:buClr>
              <a:buSzPts val="4500"/>
              <a:buFont typeface="Arial"/>
              <a:buNone/>
            </a:pPr>
            <a:r>
              <a:rPr lang="en-US" sz="4500">
                <a:solidFill>
                  <a:schemeClr val="lt1"/>
                </a:solidFill>
                <a:latin typeface="Open Sans SemiBold"/>
                <a:ea typeface="Open Sans SemiBold"/>
                <a:cs typeface="Open Sans SemiBold"/>
                <a:sym typeface="Open Sans SemiBold"/>
              </a:rPr>
              <a:t>Future Work</a:t>
            </a:r>
            <a:endParaRPr b="0" i="0" sz="1500" u="none" cap="none" strike="noStrike">
              <a:solidFill>
                <a:schemeClr val="lt1"/>
              </a:solidFill>
              <a:latin typeface="Open Sans SemiBold"/>
              <a:ea typeface="Open Sans SemiBold"/>
              <a:cs typeface="Open Sans SemiBold"/>
              <a:sym typeface="Open Sans SemiBold"/>
            </a:endParaRPr>
          </a:p>
        </p:txBody>
      </p:sp>
      <p:sp>
        <p:nvSpPr>
          <p:cNvPr id="44" name="Google Shape;44;p2"/>
          <p:cNvSpPr txBox="1"/>
          <p:nvPr/>
        </p:nvSpPr>
        <p:spPr>
          <a:xfrm>
            <a:off x="19202400" y="20806750"/>
            <a:ext cx="16394700" cy="3248400"/>
          </a:xfrm>
          <a:prstGeom prst="rect">
            <a:avLst/>
          </a:prstGeom>
          <a:noFill/>
          <a:ln>
            <a:noFill/>
          </a:ln>
        </p:spPr>
        <p:txBody>
          <a:bodyPr anchorCtr="0" anchor="t" bIns="40275" lIns="80525" spcFirstLastPara="1" rIns="80525" wrap="square" tIns="40275">
            <a:spAutoFit/>
          </a:bodyPr>
          <a:lstStyle/>
          <a:p>
            <a:pPr indent="0" lvl="0" marL="0" rtl="0" algn="l">
              <a:lnSpc>
                <a:spcPct val="115000"/>
              </a:lnSpc>
              <a:spcBef>
                <a:spcPts val="1200"/>
              </a:spcBef>
              <a:spcAft>
                <a:spcPts val="0"/>
              </a:spcAft>
              <a:buClr>
                <a:schemeClr val="dk1"/>
              </a:buClr>
              <a:buSzPts val="1100"/>
              <a:buFont typeface="Arial"/>
              <a:buNone/>
            </a:pPr>
            <a:r>
              <a:rPr lang="en-US" sz="2900">
                <a:solidFill>
                  <a:schemeClr val="dk1"/>
                </a:solidFill>
                <a:latin typeface="Open Sans"/>
                <a:ea typeface="Open Sans"/>
                <a:cs typeface="Open Sans"/>
                <a:sym typeface="Open Sans"/>
              </a:rPr>
              <a:t> Future work could explore a more advanced way of tokenizing Arabic sequences, since simple whitespace splitting does not capture the complexities of Arabic words. Tokenization methods such as subword tokenization could help the model learn better, richer patterns. Another direction would be to expand the dataset, as the current size of ten thousand sentences for five dialects limits the neural network from generalizing. </a:t>
            </a:r>
            <a:endParaRPr sz="2900">
              <a:solidFill>
                <a:schemeClr val="dk1"/>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4000"/>
              <a:buFont typeface="Arial"/>
              <a:buNone/>
            </a:pPr>
            <a:r>
              <a:t/>
            </a:r>
            <a:endParaRPr sz="2900">
              <a:solidFill>
                <a:schemeClr val="dk1"/>
              </a:solidFill>
              <a:latin typeface="Open Sans"/>
              <a:ea typeface="Open Sans"/>
              <a:cs typeface="Open Sans"/>
              <a:sym typeface="Open Sans"/>
            </a:endParaRPr>
          </a:p>
        </p:txBody>
      </p:sp>
      <p:sp>
        <p:nvSpPr>
          <p:cNvPr id="45" name="Google Shape;45;p2"/>
          <p:cNvSpPr txBox="1"/>
          <p:nvPr/>
        </p:nvSpPr>
        <p:spPr>
          <a:xfrm>
            <a:off x="19917181" y="24031772"/>
            <a:ext cx="15652200" cy="758700"/>
          </a:xfrm>
          <a:prstGeom prst="rect">
            <a:avLst/>
          </a:prstGeom>
          <a:noFill/>
          <a:ln>
            <a:noFill/>
          </a:ln>
        </p:spPr>
        <p:txBody>
          <a:bodyPr anchorCtr="0" anchor="t" bIns="40275" lIns="80525" spcFirstLastPara="1" rIns="80525" wrap="square" tIns="40275">
            <a:spAutoFit/>
          </a:bodyPr>
          <a:lstStyle/>
          <a:p>
            <a:pPr indent="0" lvl="0" marL="0" marR="0" rtl="0" algn="l">
              <a:lnSpc>
                <a:spcPct val="100000"/>
              </a:lnSpc>
              <a:spcBef>
                <a:spcPts val="0"/>
              </a:spcBef>
              <a:spcAft>
                <a:spcPts val="0"/>
              </a:spcAft>
              <a:buClr>
                <a:srgbClr val="000000"/>
              </a:buClr>
              <a:buSzPts val="4400"/>
              <a:buFont typeface="Arial"/>
              <a:buNone/>
            </a:pPr>
            <a:r>
              <a:rPr lang="en-US" sz="4400">
                <a:solidFill>
                  <a:schemeClr val="lt1"/>
                </a:solidFill>
                <a:latin typeface="Open Sans SemiBold"/>
                <a:ea typeface="Open Sans SemiBold"/>
                <a:cs typeface="Open Sans SemiBold"/>
                <a:sym typeface="Open Sans SemiBold"/>
              </a:rPr>
              <a:t>Acknowledgements</a:t>
            </a:r>
            <a:endParaRPr b="0" i="0" sz="1400" u="none" cap="none" strike="noStrike">
              <a:solidFill>
                <a:schemeClr val="lt1"/>
              </a:solidFill>
              <a:latin typeface="Open Sans SemiBold"/>
              <a:ea typeface="Open Sans SemiBold"/>
              <a:cs typeface="Open Sans SemiBold"/>
              <a:sym typeface="Open Sans SemiBold"/>
            </a:endParaRPr>
          </a:p>
        </p:txBody>
      </p:sp>
      <p:sp>
        <p:nvSpPr>
          <p:cNvPr id="46" name="Google Shape;46;p2"/>
          <p:cNvSpPr txBox="1"/>
          <p:nvPr/>
        </p:nvSpPr>
        <p:spPr>
          <a:xfrm>
            <a:off x="19122875" y="25567749"/>
            <a:ext cx="11793000" cy="2476500"/>
          </a:xfrm>
          <a:prstGeom prst="rect">
            <a:avLst/>
          </a:prstGeom>
          <a:noFill/>
          <a:ln>
            <a:noFill/>
          </a:ln>
        </p:spPr>
        <p:txBody>
          <a:bodyPr anchorCtr="0" anchor="t" bIns="40275" lIns="80525" spcFirstLastPara="1" rIns="80525" wrap="square" tIns="40275">
            <a:spAutoFit/>
          </a:bodyPr>
          <a:lstStyle/>
          <a:p>
            <a:pPr indent="-393700" lvl="0" marL="457200" rtl="0" algn="l">
              <a:lnSpc>
                <a:spcPct val="115000"/>
              </a:lnSpc>
              <a:spcBef>
                <a:spcPts val="1200"/>
              </a:spcBef>
              <a:spcAft>
                <a:spcPts val="0"/>
              </a:spcAft>
              <a:buClr>
                <a:schemeClr val="dk1"/>
              </a:buClr>
              <a:buSzPts val="2600"/>
              <a:buAutoNum type="arabicPeriod"/>
            </a:pPr>
            <a:r>
              <a:rPr i="1" lang="en-US" sz="2600">
                <a:solidFill>
                  <a:schemeClr val="dk1"/>
                </a:solidFill>
              </a:rPr>
              <a:t>Ai co-pilot for Technical Design</a:t>
            </a:r>
            <a:r>
              <a:rPr lang="en-US" sz="2600">
                <a:solidFill>
                  <a:schemeClr val="dk1"/>
                </a:solidFill>
              </a:rPr>
              <a:t>. Eraser. (n.d.). </a:t>
            </a:r>
            <a:r>
              <a:rPr lang="en-US" sz="2600" u="sng">
                <a:solidFill>
                  <a:schemeClr val="hlink"/>
                </a:solidFill>
                <a:hlinkClick r:id="rId3"/>
              </a:rPr>
              <a:t>https://app.eraser.io/</a:t>
            </a:r>
            <a:endParaRPr sz="2600">
              <a:solidFill>
                <a:schemeClr val="dk1"/>
              </a:solidFill>
            </a:endParaRPr>
          </a:p>
          <a:p>
            <a:pPr indent="-393700" lvl="0" marL="457200" rtl="0" algn="l">
              <a:lnSpc>
                <a:spcPct val="115000"/>
              </a:lnSpc>
              <a:spcBef>
                <a:spcPts val="0"/>
              </a:spcBef>
              <a:spcAft>
                <a:spcPts val="0"/>
              </a:spcAft>
              <a:buClr>
                <a:schemeClr val="dk1"/>
              </a:buClr>
              <a:buSzPts val="2600"/>
              <a:buAutoNum type="arabicPeriod"/>
            </a:pPr>
            <a:r>
              <a:rPr lang="en-US" sz="2600">
                <a:solidFill>
                  <a:schemeClr val="dk1"/>
                </a:solidFill>
              </a:rPr>
              <a:t>Morit, H. U. (2021). Xlm-roberta-base xnli arabic model. https://huggingface.co/morit/ arabic_xlm_xnli. Pretrained model for zero shot text classification fine tuned on Arabic XNLI data.</a:t>
            </a:r>
            <a:endParaRPr sz="2600">
              <a:solidFill>
                <a:schemeClr val="dk1"/>
              </a:solidFill>
            </a:endParaRPr>
          </a:p>
          <a:p>
            <a:pPr indent="0" lvl="0" marL="0" marR="0" rtl="0" algn="l">
              <a:lnSpc>
                <a:spcPct val="100000"/>
              </a:lnSpc>
              <a:spcBef>
                <a:spcPts val="1200"/>
              </a:spcBef>
              <a:spcAft>
                <a:spcPts val="0"/>
              </a:spcAft>
              <a:buClr>
                <a:srgbClr val="000000"/>
              </a:buClr>
              <a:buSzPts val="4000"/>
              <a:buFont typeface="Arial"/>
              <a:buNone/>
            </a:pPr>
            <a:r>
              <a:t/>
            </a:r>
            <a:endParaRPr sz="2600">
              <a:solidFill>
                <a:schemeClr val="dk1"/>
              </a:solidFill>
              <a:latin typeface="Open Sans"/>
              <a:ea typeface="Open Sans"/>
              <a:cs typeface="Open Sans"/>
              <a:sym typeface="Open Sans"/>
            </a:endParaRPr>
          </a:p>
        </p:txBody>
      </p:sp>
      <p:sp>
        <p:nvSpPr>
          <p:cNvPr id="47" name="Google Shape;47;p2"/>
          <p:cNvSpPr txBox="1"/>
          <p:nvPr/>
        </p:nvSpPr>
        <p:spPr>
          <a:xfrm>
            <a:off x="1066800" y="2819400"/>
            <a:ext cx="17996700" cy="2991600"/>
          </a:xfrm>
          <a:prstGeom prst="rect">
            <a:avLst/>
          </a:prstGeom>
          <a:noFill/>
          <a:ln>
            <a:noFill/>
          </a:ln>
        </p:spPr>
        <p:txBody>
          <a:bodyPr anchorCtr="0" anchor="t" bIns="48325" lIns="96650" spcFirstLastPara="1" rIns="96650" wrap="square" tIns="48325">
            <a:spAutoFit/>
          </a:bodyPr>
          <a:lstStyle/>
          <a:p>
            <a:pPr indent="0" lvl="0" marL="0" marR="0" rtl="0" algn="l">
              <a:lnSpc>
                <a:spcPct val="80000"/>
              </a:lnSpc>
              <a:spcBef>
                <a:spcPts val="0"/>
              </a:spcBef>
              <a:spcAft>
                <a:spcPts val="0"/>
              </a:spcAft>
              <a:buClr>
                <a:srgbClr val="000000"/>
              </a:buClr>
              <a:buSzPts val="7800"/>
              <a:buFont typeface="Arial"/>
              <a:buNone/>
            </a:pPr>
            <a:r>
              <a:rPr i="1" lang="en-US" sz="7400">
                <a:latin typeface="Open Sans"/>
                <a:ea typeface="Open Sans"/>
                <a:cs typeface="Open Sans"/>
                <a:sym typeface="Open Sans"/>
              </a:rPr>
              <a:t>Teach a Model Arabic and Watch It Panic: A Study of Arabic Dialect Classification</a:t>
            </a:r>
            <a:endParaRPr i="1" sz="1000" u="none" cap="none" strike="noStrike">
              <a:solidFill>
                <a:srgbClr val="000000"/>
              </a:solidFill>
              <a:latin typeface="Open Sans"/>
              <a:ea typeface="Open Sans"/>
              <a:cs typeface="Open Sans"/>
              <a:sym typeface="Open Sans"/>
            </a:endParaRPr>
          </a:p>
          <a:p>
            <a:pPr indent="0" lvl="0" marL="0" marR="0" rtl="0" algn="l">
              <a:lnSpc>
                <a:spcPct val="80000"/>
              </a:lnSpc>
              <a:spcBef>
                <a:spcPts val="1057"/>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0" lvl="0" marL="0" marR="0" rtl="0" algn="l">
              <a:lnSpc>
                <a:spcPct val="80000"/>
              </a:lnSpc>
              <a:spcBef>
                <a:spcPts val="1057"/>
              </a:spcBef>
              <a:spcAft>
                <a:spcPts val="0"/>
              </a:spcAft>
              <a:buClr>
                <a:srgbClr val="000000"/>
              </a:buClr>
              <a:buSzPts val="4800"/>
              <a:buFont typeface="Arial"/>
              <a:buNone/>
            </a:pPr>
            <a:r>
              <a:rPr lang="en-US" sz="4700">
                <a:latin typeface="Open Sans"/>
                <a:ea typeface="Open Sans"/>
                <a:cs typeface="Open Sans"/>
                <a:sym typeface="Open Sans"/>
              </a:rPr>
              <a:t>Taha Alnasser, Malik Binmahfouz</a:t>
            </a:r>
            <a:endParaRPr b="0" i="0" sz="5700" u="none" cap="none" strike="noStrike">
              <a:solidFill>
                <a:srgbClr val="000000"/>
              </a:solidFill>
              <a:latin typeface="Helvetica Neue Light"/>
              <a:ea typeface="Helvetica Neue Light"/>
              <a:cs typeface="Helvetica Neue Light"/>
              <a:sym typeface="Helvetica Neue Light"/>
            </a:endParaRPr>
          </a:p>
        </p:txBody>
      </p:sp>
      <p:grpSp>
        <p:nvGrpSpPr>
          <p:cNvPr id="48" name="Google Shape;48;p2"/>
          <p:cNvGrpSpPr/>
          <p:nvPr/>
        </p:nvGrpSpPr>
        <p:grpSpPr>
          <a:xfrm>
            <a:off x="0" y="0"/>
            <a:ext cx="38404800" cy="2124900"/>
            <a:chOff x="-4572000" y="0"/>
            <a:chExt cx="38404800" cy="2124900"/>
          </a:xfrm>
        </p:grpSpPr>
        <p:sp>
          <p:nvSpPr>
            <p:cNvPr id="49" name="Google Shape;49;p2"/>
            <p:cNvSpPr/>
            <p:nvPr/>
          </p:nvSpPr>
          <p:spPr>
            <a:xfrm>
              <a:off x="-4572000" y="0"/>
              <a:ext cx="38404800" cy="2124900"/>
            </a:xfrm>
            <a:prstGeom prst="rect">
              <a:avLst/>
            </a:prstGeom>
            <a:solidFill>
              <a:srgbClr val="FFCC3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 name="Google Shape;50;p2"/>
            <p:cNvPicPr preferRelativeResize="0"/>
            <p:nvPr/>
          </p:nvPicPr>
          <p:blipFill rotWithShape="1">
            <a:blip r:embed="rId4">
              <a:alphaModFix/>
            </a:blip>
            <a:srcRect b="0" l="0" r="0" t="0"/>
            <a:stretch/>
          </p:blipFill>
          <p:spPr>
            <a:xfrm>
              <a:off x="6415450" y="881125"/>
              <a:ext cx="16429899" cy="848975"/>
            </a:xfrm>
            <a:prstGeom prst="rect">
              <a:avLst/>
            </a:prstGeom>
            <a:noFill/>
            <a:ln>
              <a:noFill/>
            </a:ln>
          </p:spPr>
        </p:pic>
      </p:grpSp>
      <p:grpSp>
        <p:nvGrpSpPr>
          <p:cNvPr id="51" name="Google Shape;51;p2"/>
          <p:cNvGrpSpPr/>
          <p:nvPr/>
        </p:nvGrpSpPr>
        <p:grpSpPr>
          <a:xfrm>
            <a:off x="7086004" y="22990167"/>
            <a:ext cx="5293920" cy="3948918"/>
            <a:chOff x="14022925" y="24270600"/>
            <a:chExt cx="13142800" cy="5452800"/>
          </a:xfrm>
        </p:grpSpPr>
        <p:sp>
          <p:nvSpPr>
            <p:cNvPr id="52" name="Google Shape;52;p2"/>
            <p:cNvSpPr/>
            <p:nvPr/>
          </p:nvSpPr>
          <p:spPr>
            <a:xfrm>
              <a:off x="14022925" y="24270600"/>
              <a:ext cx="13124700" cy="54528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3" name="Google Shape;53;p2"/>
            <p:cNvCxnSpPr/>
            <p:nvPr/>
          </p:nvCxnSpPr>
          <p:spPr>
            <a:xfrm flipH="1">
              <a:off x="14102187" y="24276842"/>
              <a:ext cx="13063500" cy="5440200"/>
            </a:xfrm>
            <a:prstGeom prst="straightConnector1">
              <a:avLst/>
            </a:prstGeom>
            <a:noFill/>
            <a:ln cap="flat" cmpd="sng" w="9525">
              <a:solidFill>
                <a:srgbClr val="B7B7B7"/>
              </a:solidFill>
              <a:prstDash val="solid"/>
              <a:round/>
              <a:headEnd len="sm" w="sm" type="none"/>
              <a:tailEnd len="sm" w="sm" type="none"/>
            </a:ln>
          </p:spPr>
        </p:cxnSp>
        <p:cxnSp>
          <p:nvCxnSpPr>
            <p:cNvPr id="54" name="Google Shape;54;p2"/>
            <p:cNvCxnSpPr/>
            <p:nvPr/>
          </p:nvCxnSpPr>
          <p:spPr>
            <a:xfrm>
              <a:off x="14075825" y="24398825"/>
              <a:ext cx="13089900" cy="5306700"/>
            </a:xfrm>
            <a:prstGeom prst="straightConnector1">
              <a:avLst/>
            </a:prstGeom>
            <a:noFill/>
            <a:ln cap="flat" cmpd="sng" w="9525">
              <a:solidFill>
                <a:srgbClr val="B7B7B7"/>
              </a:solidFill>
              <a:prstDash val="solid"/>
              <a:round/>
              <a:headEnd len="sm" w="sm" type="none"/>
              <a:tailEnd len="sm" w="sm" type="none"/>
            </a:ln>
          </p:spPr>
        </p:cxnSp>
      </p:grpSp>
      <p:grpSp>
        <p:nvGrpSpPr>
          <p:cNvPr id="55" name="Google Shape;55;p2"/>
          <p:cNvGrpSpPr/>
          <p:nvPr/>
        </p:nvGrpSpPr>
        <p:grpSpPr>
          <a:xfrm>
            <a:off x="-209550" y="26978975"/>
            <a:ext cx="38823900" cy="2029000"/>
            <a:chOff x="-190500" y="26341900"/>
            <a:chExt cx="38823900" cy="2029000"/>
          </a:xfrm>
        </p:grpSpPr>
        <p:pic>
          <p:nvPicPr>
            <p:cNvPr id="56" name="Google Shape;56;p2"/>
            <p:cNvPicPr preferRelativeResize="0"/>
            <p:nvPr/>
          </p:nvPicPr>
          <p:blipFill rotWithShape="1">
            <a:blip r:embed="rId5">
              <a:alphaModFix/>
            </a:blip>
            <a:srcRect b="0" l="0" r="0" t="0"/>
            <a:stretch/>
          </p:blipFill>
          <p:spPr>
            <a:xfrm>
              <a:off x="17349386" y="27039462"/>
              <a:ext cx="2423950" cy="1331438"/>
            </a:xfrm>
            <a:prstGeom prst="rect">
              <a:avLst/>
            </a:prstGeom>
            <a:noFill/>
            <a:ln>
              <a:noFill/>
            </a:ln>
          </p:spPr>
        </p:pic>
        <p:pic>
          <p:nvPicPr>
            <p:cNvPr id="57" name="Google Shape;57;p2"/>
            <p:cNvPicPr preferRelativeResize="0"/>
            <p:nvPr/>
          </p:nvPicPr>
          <p:blipFill rotWithShape="1">
            <a:blip r:embed="rId6">
              <a:alphaModFix/>
            </a:blip>
            <a:srcRect b="0" l="0" r="0" t="0"/>
            <a:stretch/>
          </p:blipFill>
          <p:spPr>
            <a:xfrm>
              <a:off x="9009988" y="27228913"/>
              <a:ext cx="5448300" cy="952500"/>
            </a:xfrm>
            <a:prstGeom prst="rect">
              <a:avLst/>
            </a:prstGeom>
            <a:noFill/>
            <a:ln>
              <a:noFill/>
            </a:ln>
          </p:spPr>
        </p:pic>
        <p:pic>
          <p:nvPicPr>
            <p:cNvPr id="58" name="Google Shape;58;p2"/>
            <p:cNvPicPr preferRelativeResize="0"/>
            <p:nvPr/>
          </p:nvPicPr>
          <p:blipFill rotWithShape="1">
            <a:blip r:embed="rId7">
              <a:alphaModFix/>
            </a:blip>
            <a:srcRect b="0" l="0" r="0" t="0"/>
            <a:stretch/>
          </p:blipFill>
          <p:spPr>
            <a:xfrm>
              <a:off x="22664443" y="27359905"/>
              <a:ext cx="5378178" cy="848975"/>
            </a:xfrm>
            <a:prstGeom prst="rect">
              <a:avLst/>
            </a:prstGeom>
            <a:noFill/>
            <a:ln>
              <a:noFill/>
            </a:ln>
          </p:spPr>
        </p:pic>
        <p:cxnSp>
          <p:nvCxnSpPr>
            <p:cNvPr id="59" name="Google Shape;59;p2"/>
            <p:cNvCxnSpPr/>
            <p:nvPr/>
          </p:nvCxnSpPr>
          <p:spPr>
            <a:xfrm>
              <a:off x="-190500" y="26341900"/>
              <a:ext cx="38823900" cy="0"/>
            </a:xfrm>
            <a:prstGeom prst="straightConnector1">
              <a:avLst/>
            </a:prstGeom>
            <a:noFill/>
            <a:ln cap="flat" cmpd="sng" w="9525">
              <a:solidFill>
                <a:srgbClr val="D9D9D9"/>
              </a:solidFill>
              <a:prstDash val="solid"/>
              <a:round/>
              <a:headEnd len="sm" w="sm" type="none"/>
              <a:tailEnd len="sm" w="sm" type="none"/>
            </a:ln>
          </p:spPr>
        </p:cxnSp>
      </p:grpSp>
      <p:pic>
        <p:nvPicPr>
          <p:cNvPr id="60" name="Google Shape;60;p2"/>
          <p:cNvPicPr preferRelativeResize="0"/>
          <p:nvPr/>
        </p:nvPicPr>
        <p:blipFill>
          <a:blip r:embed="rId8">
            <a:alphaModFix/>
          </a:blip>
          <a:stretch>
            <a:fillRect/>
          </a:stretch>
        </p:blipFill>
        <p:spPr>
          <a:xfrm>
            <a:off x="12925125" y="9637463"/>
            <a:ext cx="5952524" cy="5631197"/>
          </a:xfrm>
          <a:prstGeom prst="rect">
            <a:avLst/>
          </a:prstGeom>
          <a:noFill/>
          <a:ln>
            <a:noFill/>
          </a:ln>
        </p:spPr>
      </p:pic>
      <p:pic>
        <p:nvPicPr>
          <p:cNvPr id="61" name="Google Shape;61;p2"/>
          <p:cNvPicPr preferRelativeResize="0"/>
          <p:nvPr/>
        </p:nvPicPr>
        <p:blipFill>
          <a:blip r:embed="rId9">
            <a:alphaModFix/>
          </a:blip>
          <a:stretch>
            <a:fillRect/>
          </a:stretch>
        </p:blipFill>
        <p:spPr>
          <a:xfrm>
            <a:off x="27907350" y="11895275"/>
            <a:ext cx="10143952" cy="6692400"/>
          </a:xfrm>
          <a:prstGeom prst="rect">
            <a:avLst/>
          </a:prstGeom>
          <a:noFill/>
          <a:ln>
            <a:noFill/>
          </a:ln>
        </p:spPr>
      </p:pic>
      <p:sp>
        <p:nvSpPr>
          <p:cNvPr id="62" name="Google Shape;62;p2"/>
          <p:cNvSpPr txBox="1"/>
          <p:nvPr/>
        </p:nvSpPr>
        <p:spPr>
          <a:xfrm>
            <a:off x="19202400" y="11504300"/>
            <a:ext cx="8622900" cy="8439300"/>
          </a:xfrm>
          <a:prstGeom prst="rect">
            <a:avLst/>
          </a:prstGeom>
          <a:noFill/>
          <a:ln>
            <a:noFill/>
          </a:ln>
        </p:spPr>
        <p:txBody>
          <a:bodyPr anchorCtr="0" anchor="t" bIns="40275" lIns="80525" spcFirstLastPara="1" rIns="80525" wrap="square" tIns="40275">
            <a:spAutoFit/>
          </a:bodyPr>
          <a:lstStyle/>
          <a:p>
            <a:pPr indent="0" lvl="0" marL="0" rtl="0" algn="l">
              <a:lnSpc>
                <a:spcPct val="115000"/>
              </a:lnSpc>
              <a:spcBef>
                <a:spcPts val="1200"/>
              </a:spcBef>
              <a:spcAft>
                <a:spcPts val="0"/>
              </a:spcAft>
              <a:buClr>
                <a:schemeClr val="dk1"/>
              </a:buClr>
              <a:buSzPts val="1100"/>
              <a:buFont typeface="Arial"/>
              <a:buNone/>
            </a:pPr>
            <a:r>
              <a:rPr b="1" i="1" lang="en-US" sz="3000">
                <a:solidFill>
                  <a:schemeClr val="dk1"/>
                </a:solidFill>
              </a:rPr>
              <a:t>Zero-shot XLM-Roberta Pretrained model</a:t>
            </a:r>
            <a:endParaRPr b="1" i="1" sz="3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3000">
                <a:solidFill>
                  <a:schemeClr val="dk1"/>
                </a:solidFill>
              </a:rPr>
              <a:t>• Loaded a pretrained XLM-Roberta model adapted for Arabic through multilingual Twitter data and Arabic XNLI</a:t>
            </a:r>
            <a:br>
              <a:rPr lang="en-US" sz="3000">
                <a:solidFill>
                  <a:schemeClr val="dk1"/>
                </a:solidFill>
              </a:rPr>
            </a:br>
            <a:r>
              <a:rPr lang="en-US" sz="3000">
                <a:solidFill>
                  <a:schemeClr val="dk1"/>
                </a:solidFill>
              </a:rPr>
              <a:t> • Used the model in evaluation mode without any additional training</a:t>
            </a:r>
            <a:br>
              <a:rPr lang="en-US" sz="3000">
                <a:solidFill>
                  <a:schemeClr val="dk1"/>
                </a:solidFill>
              </a:rPr>
            </a:br>
            <a:r>
              <a:rPr lang="en-US" sz="3000">
                <a:solidFill>
                  <a:schemeClr val="dk1"/>
                </a:solidFill>
              </a:rPr>
              <a:t> • Compared each text against natural language hypotheses representing the five dialects</a:t>
            </a:r>
            <a:br>
              <a:rPr lang="en-US" sz="3000">
                <a:solidFill>
                  <a:schemeClr val="dk1"/>
                </a:solidFill>
              </a:rPr>
            </a:br>
            <a:r>
              <a:rPr lang="en-US" sz="3000">
                <a:solidFill>
                  <a:schemeClr val="dk1"/>
                </a:solidFill>
              </a:rPr>
              <a:t> • Computed probabilities from the model’s entailment scores and selected the most likely dialect</a:t>
            </a:r>
            <a:br>
              <a:rPr lang="en-US" sz="3000">
                <a:solidFill>
                  <a:schemeClr val="dk1"/>
                </a:solidFill>
              </a:rPr>
            </a:br>
            <a:r>
              <a:rPr lang="en-US" sz="3000">
                <a:solidFill>
                  <a:schemeClr val="dk1"/>
                </a:solidFill>
              </a:rPr>
              <a:t> • Applied this zero-shot approach to a sample of the test set for evaluation</a:t>
            </a:r>
            <a:endParaRPr sz="30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3000">
              <a:solidFill>
                <a:schemeClr val="dk1"/>
              </a:solidFill>
            </a:endParaRPr>
          </a:p>
          <a:p>
            <a:pPr indent="0" lvl="0" marL="0" marR="0" rtl="0" algn="l">
              <a:lnSpc>
                <a:spcPct val="100000"/>
              </a:lnSpc>
              <a:spcBef>
                <a:spcPts val="1200"/>
              </a:spcBef>
              <a:spcAft>
                <a:spcPts val="0"/>
              </a:spcAft>
              <a:buClr>
                <a:srgbClr val="000000"/>
              </a:buClr>
              <a:buSzPts val="4000"/>
              <a:buFont typeface="Arial"/>
              <a:buNone/>
            </a:pPr>
            <a:r>
              <a:t/>
            </a:r>
            <a:endParaRPr b="1" sz="3000">
              <a:solidFill>
                <a:schemeClr val="dk1"/>
              </a:solidFill>
            </a:endParaRPr>
          </a:p>
        </p:txBody>
      </p:sp>
      <p:pic>
        <p:nvPicPr>
          <p:cNvPr id="63" name="Google Shape;63;p2"/>
          <p:cNvPicPr preferRelativeResize="0"/>
          <p:nvPr/>
        </p:nvPicPr>
        <p:blipFill>
          <a:blip r:embed="rId10">
            <a:alphaModFix/>
          </a:blip>
          <a:stretch>
            <a:fillRect/>
          </a:stretch>
        </p:blipFill>
        <p:spPr>
          <a:xfrm>
            <a:off x="6756700" y="21933900"/>
            <a:ext cx="5952525" cy="5008125"/>
          </a:xfrm>
          <a:prstGeom prst="rect">
            <a:avLst/>
          </a:prstGeom>
          <a:noFill/>
          <a:ln>
            <a:noFill/>
          </a:ln>
        </p:spPr>
      </p:pic>
      <p:pic>
        <p:nvPicPr>
          <p:cNvPr id="64" name="Google Shape;64;p2"/>
          <p:cNvPicPr preferRelativeResize="0"/>
          <p:nvPr/>
        </p:nvPicPr>
        <p:blipFill>
          <a:blip r:embed="rId11">
            <a:alphaModFix/>
          </a:blip>
          <a:stretch>
            <a:fillRect/>
          </a:stretch>
        </p:blipFill>
        <p:spPr>
          <a:xfrm>
            <a:off x="12863950" y="21943275"/>
            <a:ext cx="5774898" cy="4935700"/>
          </a:xfrm>
          <a:prstGeom prst="rect">
            <a:avLst/>
          </a:prstGeom>
          <a:noFill/>
          <a:ln>
            <a:noFill/>
          </a:ln>
        </p:spPr>
      </p:pic>
      <p:pic>
        <p:nvPicPr>
          <p:cNvPr id="65" name="Google Shape;65;p2"/>
          <p:cNvPicPr preferRelativeResize="0"/>
          <p:nvPr/>
        </p:nvPicPr>
        <p:blipFill>
          <a:blip r:embed="rId12">
            <a:alphaModFix/>
          </a:blip>
          <a:stretch>
            <a:fillRect/>
          </a:stretch>
        </p:blipFill>
        <p:spPr>
          <a:xfrm>
            <a:off x="30963400" y="27043225"/>
            <a:ext cx="5321404" cy="1900500"/>
          </a:xfrm>
          <a:prstGeom prst="rect">
            <a:avLst/>
          </a:prstGeom>
          <a:noFill/>
          <a:ln>
            <a:noFill/>
          </a:ln>
        </p:spPr>
      </p:pic>
      <p:pic>
        <p:nvPicPr>
          <p:cNvPr id="66" name="Google Shape;66;p2"/>
          <p:cNvPicPr preferRelativeResize="0"/>
          <p:nvPr/>
        </p:nvPicPr>
        <p:blipFill>
          <a:blip r:embed="rId13">
            <a:alphaModFix/>
          </a:blip>
          <a:stretch>
            <a:fillRect/>
          </a:stretch>
        </p:blipFill>
        <p:spPr>
          <a:xfrm>
            <a:off x="512560" y="22006325"/>
            <a:ext cx="5856039" cy="4935700"/>
          </a:xfrm>
          <a:prstGeom prst="rect">
            <a:avLst/>
          </a:prstGeom>
          <a:noFill/>
          <a:ln>
            <a:noFill/>
          </a:ln>
        </p:spPr>
      </p:pic>
      <p:pic>
        <p:nvPicPr>
          <p:cNvPr id="67" name="Google Shape;67;p2"/>
          <p:cNvPicPr preferRelativeResize="0"/>
          <p:nvPr/>
        </p:nvPicPr>
        <p:blipFill>
          <a:blip r:embed="rId14">
            <a:alphaModFix/>
          </a:blip>
          <a:stretch>
            <a:fillRect/>
          </a:stretch>
        </p:blipFill>
        <p:spPr>
          <a:xfrm>
            <a:off x="7153338" y="20502226"/>
            <a:ext cx="4875650" cy="1431675"/>
          </a:xfrm>
          <a:prstGeom prst="rect">
            <a:avLst/>
          </a:prstGeom>
          <a:noFill/>
          <a:ln>
            <a:noFill/>
          </a:ln>
        </p:spPr>
      </p:pic>
      <p:pic>
        <p:nvPicPr>
          <p:cNvPr id="68" name="Google Shape;68;p2"/>
          <p:cNvPicPr preferRelativeResize="0"/>
          <p:nvPr/>
        </p:nvPicPr>
        <p:blipFill>
          <a:blip r:embed="rId15">
            <a:alphaModFix/>
          </a:blip>
          <a:stretch>
            <a:fillRect/>
          </a:stretch>
        </p:blipFill>
        <p:spPr>
          <a:xfrm>
            <a:off x="18972900" y="5655888"/>
            <a:ext cx="8934450" cy="5534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2010-08-11T14:01:22Z</dcterms:created>
  <dc:creator>Dawn Lippman</dc:creator>
</cp:coreProperties>
</file>